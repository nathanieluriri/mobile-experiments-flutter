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theme" Target="theme/theme1.xml"/></Relationships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GB"/>
              <a:t>Read the four out, then stop. The docket rule is the one they break, so leave a beat after it.</a:t>
            </a:r>
          </a:p>
          <a:p>
            <a:pPr>
              <a:buNone/>
            </a:pPr>
            <a:r>
              <a:rPr lang="en-GB"/>
              <a:t>If anyone asks about the reset formes, that is slide two, not this one.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2103120"/>
            <a:ext cx="9966960" cy="1645920"/>
          </a:xfrm>
        </p:spPr>
        <p:txBody>
          <a:bodyPr anchor="b"/>
          <a:lstStyle>
            <a:lvl1pPr>
              <a:buNone/>
              <a:defRPr sz="5400" b="1"/>
            </a:lvl1pPr>
          </a:lstStyle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7280" y="3840480"/>
            <a:ext cx="9966960" cy="1005840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tatem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0160" y="2377440"/>
            <a:ext cx="9601200" cy="1828800"/>
          </a:xfrm>
        </p:spPr>
        <p:txBody>
          <a:bodyPr anchor="ctr"/>
          <a:lstStyle>
            <a:lvl1pPr algn="ctr">
              <a:buNone/>
              <a:defRPr sz="4400" b="1">
                <a:solidFill>
                  <a:schemeClr val="bg1"/>
                </a:solidFill>
              </a:defRPr>
            </a:lvl1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Head rule"/>
          <p:cNvSpPr/>
          <p:nvPr/>
        </p:nvSpPr>
        <p:spPr>
          <a:xfrm>
            <a:off x="822960" y="1417320"/>
            <a:ext cx="10515600" cy="22225"/>
          </a:xfrm>
          <a:prstGeom prst="rect">
            <a:avLst/>
          </a:prstGeom>
          <a:solidFill>
            <a:schemeClr val="accent3"/>
          </a:solidFill>
        </p:spPr>
        <p:txBody>
          <a:bodyPr/>
          <a:lstStyle/>
          <a:p/>
        </p:txBody>
      </p:sp>
      <p:sp>
        <p:nvSpPr>
          <p:cNvPr id="10" name="Running foot"/>
          <p:cNvSpPr txBox="1"/>
          <p:nvPr/>
        </p:nvSpPr>
        <p:spPr>
          <a:xfrm>
            <a:off x="822960" y="617220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GB" sz="1000">
                <a:solidFill>
                  <a:schemeClr val="tx2">
                    <a:alpha val="70000"/>
                  </a:schemeClr>
                </a:solidFill>
              </a:rPr>
              <a:t>the bindery, michaelmas run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457200"/>
            <a:ext cx="10515600" cy="914400"/>
          </a:xfrm>
        </p:spPr>
        <p:txBody>
          <a:bodyPr anchor="b"/>
          <a:lstStyle/>
          <a:p/>
        </p:txBody>
      </p:sp>
      <p:sp>
        <p:nvSpPr>
          <p:cNvPr id="3" name="Body Placeholder 2"/>
          <p:cNvSpPr>
            <a:spLocks noGrp="1"/>
          </p:cNvSpPr>
          <p:nvPr>
            <p:ph type="body" idx="1"/>
          </p:nvPr>
        </p:nvSpPr>
        <p:spPr>
          <a:xfrm>
            <a:off x="822960" y="1737360"/>
            <a:ext cx="10515600" cy="4206240"/>
          </a:xfrm>
        </p:spPr>
        <p:txBody>
          <a:bodyPr anchor="t"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>
        <a:buNone/>
        <a:defRPr sz="4000" b="1">
          <a:solidFill>
            <a:schemeClr val="tx1"/>
          </a:solidFill>
        </a:defRPr>
      </a:lvl1pPr>
    </p:titleStyle>
    <p:bodyStyle>
      <a:lvl1pPr marL="285750" indent="-285750">
        <a:buChar char="•"/>
        <a:defRPr sz="2000">
          <a:solidFill>
            <a:schemeClr val="tx2"/>
          </a:solidFill>
        </a:defRPr>
      </a:lvl1pPr>
      <a:lvl2pPr marL="628650" indent="-285750">
        <a:buChar char="–"/>
        <a:defRPr sz="1700">
          <a:solidFill>
            <a:schemeClr val="tx2"/>
          </a:solidFill>
        </a:defRPr>
      </a:lvl2pPr>
    </p:bodyStyle>
    <p:otherStyle>
      <a:lvl1pPr>
        <a:buNone/>
        <a:defRPr sz="16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Press Day Briefing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Michaelmas run, sheet fed, six formes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What changes today</a:t>
            </a:r>
          </a:p>
        </p:txBody>
      </p:sp>
      <p:sp>
        <p:nvSpPr>
          <p:cNvPr id="3" name="Conten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GB"/>
              <a:t>Forme three comes off the stone at eleven</a:t>
            </a:r>
          </a:p>
          <a:p>
            <a:pPr lvl="0"/>
            <a:r>
              <a:rPr lang="en-GB"/>
              <a:t>The long grain stock is held back for the covers</a:t>
            </a:r>
          </a:p>
          <a:p>
            <a:pPr lvl="1"/>
            <a:r>
              <a:rPr lang="en-GB"/>
              <a:t>Two of the six formes are being reset</a:t>
            </a:r>
          </a:p>
          <a:p>
            <a:pPr lvl="1"/>
            <a:r>
              <a:rPr lang="en-GB"/>
              <a:t>Ink up warm: the shop is cold until noon</a:t>
            </a:r>
          </a:p>
          <a:p>
            <a:pPr lvl="0"/>
            <a:r>
              <a:rPr lang="en-GB"/>
              <a:t>Proofs go up on the wall, not in the tray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The run in numbers</a:t>
            </a:r>
          </a:p>
        </p:txBody>
      </p:sp>
      <p:graphicFrame>
        <p:nvGraphicFramePr>
          <p:cNvPr id="4" name="Run table"/>
          <p:cNvGraphicFramePr>
            <a:graphicFrameLocks noGrp="1"/>
          </p:cNvGraphicFramePr>
          <p:nvPr/>
        </p:nvGraphicFramePr>
        <p:xfrm>
          <a:off x="822960" y="1920240"/>
          <a:ext cx="10515600" cy="1874520"/>
        </p:xfrm>
        <a:graphic>
          <a:graphicData uri="http://schemas.openxmlformats.org/drawingml/2006/table">
            <a:tbl>
              <a:tblPr firstRow="1" bandRow="1"/>
              <a:tblGrid>
                <a:gridCol w="2628900"/>
                <a:gridCol w="2628900"/>
                <a:gridCol w="2628900"/>
                <a:gridCol w="2628900"/>
              </a:tblGrid>
              <a:tr h="411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>
                          <a:solidFill>
                            <a:schemeClr val="bg1"/>
                          </a:solidFill>
                        </a:rPr>
                        <a:t>Forme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>
                          <a:solidFill>
                            <a:schemeClr val="bg1"/>
                          </a:solidFill>
                        </a:rPr>
                        <a:t>Sheets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>
                          <a:solidFill>
                            <a:schemeClr val="bg1"/>
                          </a:solidFill>
                        </a:rPr>
                        <a:t>Waste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>
                          <a:solidFill>
                            <a:schemeClr val="bg1"/>
                          </a:solidFill>
                        </a:rPr>
                        <a:t>Off at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One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1,200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38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09:10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Two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1,200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61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10:25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Three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900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24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11:40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Four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900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19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13:05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The proof from forme two</a:t>
            </a:r>
          </a:p>
        </p:txBody>
      </p:sp>
      <p:pic>
        <p:nvPicPr>
          <p:cNvPr id="4" name="Proof sheet" descr="A proof pulled from forme two, ruled and marked u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20240"/>
            <a:ext cx="5852160" cy="3291840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6949440" y="2194560"/>
            <a:ext cx="438912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GB" sz="1800"/>
              <a:t>Pulled at 09:40, before the reset.</a:t>
            </a:r>
          </a:p>
          <a:p>
            <a:pPr>
              <a:buNone/>
            </a:pPr>
            <a:r>
              <a:rPr lang="en-GB" sz="1800"/>
              <a:t>The gutter is a quarter pica wide on the left, and the head margin is short by a 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House rules at the press</a:t>
            </a:r>
          </a:p>
        </p:txBody>
      </p:sp>
      <p:sp>
        <p:nvSpPr>
          <p:cNvPr id="3" name="Conten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AutoNum type="arabicPeriod"/>
            </a:pPr>
            <a:r>
              <a:rPr lang="en-GB"/>
              <a:t>Lock the forme before you lift it</a:t>
            </a:r>
          </a:p>
          <a:p>
            <a:pPr marL="285750" indent="-285750">
              <a:buAutoNum type="arabicPeriod"/>
            </a:pPr>
            <a:r>
              <a:rPr lang="en-GB"/>
              <a:t>Wash the rollers down at every colour change</a:t>
            </a:r>
          </a:p>
          <a:p>
            <a:pPr marL="285750" indent="-285750">
              <a:buAutoNum type="arabicPeriod"/>
            </a:pPr>
            <a:r>
              <a:rPr lang="en-GB"/>
              <a:t>Sign the sheet you approved, and date it</a:t>
            </a:r>
          </a:p>
          <a:p>
            <a:pPr marL="285750" indent="-285750">
              <a:buAutoNum type="arabicPeriod"/>
            </a:pPr>
            <a:r>
              <a:rPr lang="en-GB"/>
              <a:t>Nothing leaves the shop without a docket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Sheets off by four, or not at all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ess">
  <a:themeElements>
    <a:clrScheme name="Press">
      <a:dk1>
        <a:srgbClr val="1A1A1A"/>
      </a:dk1>
      <a:lt1>
        <a:srgbClr val="FFFFFF"/>
      </a:lt1>
      <a:dk2>
        <a:srgbClr val="3C3A36"/>
      </a:dk2>
      <a:lt2>
        <a:srgbClr val="F4EFE6"/>
      </a:lt2>
      <a:accent1>
        <a:srgbClr val="8A4B2A"/>
      </a:accent1>
      <a:accent2>
        <a:srgbClr val="2E5E4E"/>
      </a:accent2>
      <a:accent3>
        <a:srgbClr val="B08D57"/>
      </a:accent3>
      <a:accent4>
        <a:srgbClr val="6B6257"/>
      </a:accent4>
      <a:accent5>
        <a:srgbClr val="9C3B2E"/>
      </a:accent5>
      <a:accent6>
        <a:srgbClr val="47576B"/>
      </a:accent6>
      <a:hlink>
        <a:srgbClr val="2E5E4E"/>
      </a:hlink>
      <a:folHlink>
        <a:srgbClr val="6B6257"/>
      </a:folHlink>
    </a:clrScheme>
    <a:fontScheme name="Press">
      <a:majorFont>
        <a:latin typeface="Georgia"/>
        <a:ea typeface=""/>
        <a:cs typeface=""/>
      </a:majorFont>
      <a:minorFont>
        <a:latin typeface="Georgia"/>
        <a:ea typeface=""/>
        <a:cs typeface=""/>
      </a:minorFont>
    </a:fontScheme>
    <a:fmtScheme name="Pres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quire</Application>
  <Slides>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Press Day Briefing</dc:title>
  <dc:creator>the bindery</dc:creator>
  <cp:lastModifiedBy>the bindery</cp:lastModifiedBy>
  <dcterms:created xsi:type="dcterms:W3CDTF">2026-01-06T08:00:00Z</dcterms:created>
</cp:coreProperties>
</file>